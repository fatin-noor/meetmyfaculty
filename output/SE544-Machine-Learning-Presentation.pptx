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1ddc624d75477e" /><Relationship Type="http://schemas.openxmlformats.org/officeDocument/2006/relationships/extended-properties" Target="/docProps/app.xml" Id="Rd9af5d28e78c4096" /><Relationship Type="http://schemas.openxmlformats.org/officeDocument/2006/relationships/officeDocument" Target="/ppt/presentation.xml" Id="Rcbb1804777b64a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ff166dc32d42b9"/>
  </p:sldMasterIdLst>
  <p:notesMasterIdLst>
    <p:notesMasterId xmlns:r="http://schemas.openxmlformats.org/officeDocument/2006/relationships" r:id="R38cec4f05d264db5"/>
  </p:notesMasterIdLst>
  <p:sldIdLst>
    <p:sldId xmlns:r="http://schemas.openxmlformats.org/officeDocument/2006/relationships" id="256" r:id="Rb20382be072348d3"/>
    <p:sldId xmlns:r="http://schemas.openxmlformats.org/officeDocument/2006/relationships" id="257" r:id="R8b7f46190fbd4427"/>
    <p:sldId xmlns:r="http://schemas.openxmlformats.org/officeDocument/2006/relationships" id="258" r:id="R4749f4d7193d484a"/>
    <p:sldId xmlns:r="http://schemas.openxmlformats.org/officeDocument/2006/relationships" id="259" r:id="Rb2f54e1c40224875"/>
    <p:sldId xmlns:r="http://schemas.openxmlformats.org/officeDocument/2006/relationships" id="260" r:id="R12711a52297a44c9"/>
    <p:sldId xmlns:r="http://schemas.openxmlformats.org/officeDocument/2006/relationships" id="261" r:id="R7d00fe5a6ff545fc"/>
    <p:sldId xmlns:r="http://schemas.openxmlformats.org/officeDocument/2006/relationships" id="262" r:id="R75b3e5a9d72b458b"/>
    <p:sldId xmlns:r="http://schemas.openxmlformats.org/officeDocument/2006/relationships" id="263" r:id="R6e599a655ca2483d"/>
    <p:sldId xmlns:r="http://schemas.openxmlformats.org/officeDocument/2006/relationships" id="264" r:id="R434b76ea91864f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2416e7801348d4" /><Relationship Type="http://schemas.openxmlformats.org/officeDocument/2006/relationships/slideMaster" Target="/ppt/slideMasters/slideMaster1.xml" Id="R8fff166dc32d42b9" /><Relationship Type="http://schemas.openxmlformats.org/officeDocument/2006/relationships/notesMaster" Target="/ppt/notesMasters/notesMaster1.xml" Id="R38cec4f05d264db5" /><Relationship Type="http://schemas.openxmlformats.org/officeDocument/2006/relationships/presProps" Target="/ppt/presProps.xml" Id="R100952c2c429468a" /><Relationship Type="http://schemas.openxmlformats.org/officeDocument/2006/relationships/tableStyles" Target="/ppt/tableStyles.xml" Id="R6455bc819d4748b5" /><Relationship Type="http://schemas.openxmlformats.org/officeDocument/2006/relationships/slide" Target="/ppt/slides/slide1.xml" Id="Rb20382be072348d3" /><Relationship Type="http://schemas.openxmlformats.org/officeDocument/2006/relationships/slide" Target="/ppt/slides/slide2.xml" Id="R8b7f46190fbd4427" /><Relationship Type="http://schemas.openxmlformats.org/officeDocument/2006/relationships/slide" Target="/ppt/slides/slide3.xml" Id="R4749f4d7193d484a" /><Relationship Type="http://schemas.openxmlformats.org/officeDocument/2006/relationships/slide" Target="/ppt/slides/slide4.xml" Id="Rb2f54e1c40224875" /><Relationship Type="http://schemas.openxmlformats.org/officeDocument/2006/relationships/slide" Target="/ppt/slides/slide5.xml" Id="R12711a52297a44c9" /><Relationship Type="http://schemas.openxmlformats.org/officeDocument/2006/relationships/slide" Target="/ppt/slides/slide6.xml" Id="R7d00fe5a6ff545fc" /><Relationship Type="http://schemas.openxmlformats.org/officeDocument/2006/relationships/slide" Target="/ppt/slides/slide7.xml" Id="R75b3e5a9d72b458b" /><Relationship Type="http://schemas.openxmlformats.org/officeDocument/2006/relationships/slide" Target="/ppt/slides/slide8.xml" Id="R6e599a655ca2483d" /><Relationship Type="http://schemas.openxmlformats.org/officeDocument/2006/relationships/slide" Target="/ppt/slides/slide9.xml" Id="R434b76ea91864f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299ddeea8043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ea08e50f414f8b" /><Relationship Type="http://schemas.openxmlformats.org/officeDocument/2006/relationships/notesMaster" Target="/ppt/notesMasters/notesMaster1.xml" Id="R123b749312a34b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570a67f6da4e58" /><Relationship Type="http://schemas.openxmlformats.org/officeDocument/2006/relationships/notesMaster" Target="/ppt/notesMasters/notesMaster1.xml" Id="R20b47828e4c147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3e19dca40145df" /><Relationship Type="http://schemas.openxmlformats.org/officeDocument/2006/relationships/notesMaster" Target="/ppt/notesMasters/notesMaster1.xml" Id="Rea16a6d0b45b40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112b1ac3334bbf" /><Relationship Type="http://schemas.openxmlformats.org/officeDocument/2006/relationships/notesMaster" Target="/ppt/notesMasters/notesMaster1.xml" Id="R9ccbe61e81b241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1e86f1ac43431e" /><Relationship Type="http://schemas.openxmlformats.org/officeDocument/2006/relationships/notesMaster" Target="/ppt/notesMasters/notesMaster1.xml" Id="R48a9e178faba4a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43474d6bf748cf" /><Relationship Type="http://schemas.openxmlformats.org/officeDocument/2006/relationships/notesMaster" Target="/ppt/notesMasters/notesMaster1.xml" Id="R073b14db350748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5070b00db04cf5" /><Relationship Type="http://schemas.openxmlformats.org/officeDocument/2006/relationships/notesMaster" Target="/ppt/notesMasters/notesMaster1.xml" Id="R5a5e65d2bb3d49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0bf7500c67415a" /><Relationship Type="http://schemas.openxmlformats.org/officeDocument/2006/relationships/notesMaster" Target="/ppt/notesMasters/notesMaster1.xml" Id="Rd42538e0679741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0f9c10861442ed" /><Relationship Type="http://schemas.openxmlformats.org/officeDocument/2006/relationships/notesMaster" Target="/ppt/notesMasters/notesMaster1.xml" Id="R75c13152329c4f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introducing the course and the four connected machine-learning ideas we will cover.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both presenters and explain the slide ownership.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simple ML workflow. Tell the audience that today we focus on judging predictions, forming hypotheses, training with gradient descent, and recognizing poor 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formula using the 90 out of 100 example. Mention that accuracy is clear, but it does not show which types of errors the model makes.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patient example to show why accuracy alone can be insufficient. Precision and recall are alternatives for understanding error types.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hypothesis is a proposed prediction rule. Gradient descent repeatedly changes the model parameters so that the error becomes smaller.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underfitting as high bias and overfitting as high variance. The target is generalization, where the model performs well on new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how these ideas work together: a model uses a hypothesis, learns with gradient descent, is checked with accuracy and other metrics, and must generalize beyond the training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the audience and invite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20b398cae6402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128ae5ca84f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c3cc05d8140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a7419a2a449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2379525f4b4a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c1a5c01afa4d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6F5EFD-D31A-4DFE-9E9A-67B5D5534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D5267D-4645-4584-A6AD-1E7A9A59AC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955041D-D403-42DB-A494-4353BEF565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B6A761-E7EB-40B7-BD4E-614D571F3E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9ECBAE-2A30-4EB4-8004-3EB2DD926B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A67C17-8349-4510-AEC8-3DE78914C1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A7E198-92AD-478F-A7A2-3536DCC031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08ADF7-8121-43C0-8203-5D567F92B6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B90173-A2F4-466D-B24D-187A8E69E2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DC4F68-2216-4D60-8A4A-9A26E014CE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cfd9a3b59b422b" /><Relationship Type="http://schemas.openxmlformats.org/officeDocument/2006/relationships/slideLayout" Target="/ppt/slideLayouts/slideLayout1.xml" Id="R6bc02d9544f947af" /><Relationship Type="http://schemas.openxmlformats.org/officeDocument/2006/relationships/slideLayout" Target="/ppt/slideLayouts/slideLayout2.xml" Id="R2530e5634f424d25" /><Relationship Type="http://schemas.openxmlformats.org/officeDocument/2006/relationships/slideLayout" Target="/ppt/slideLayouts/slideLayout3.xml" Id="R51b36c5b98fe4799" /><Relationship Type="http://schemas.openxmlformats.org/officeDocument/2006/relationships/slideLayout" Target="/ppt/slideLayouts/slideLayout4.xml" Id="Rb29735d892f6433f" /><Relationship Type="http://schemas.openxmlformats.org/officeDocument/2006/relationships/slideLayout" Target="/ppt/slideLayouts/slideLayout5.xml" Id="R543971d48fa6475b" /><Relationship Type="http://schemas.openxmlformats.org/officeDocument/2006/relationships/slideLayout" Target="/ppt/slideLayouts/slideLayout6.xml" Id="Rb81b35a97db44c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c02d9544f947af"/>
    <p:sldLayoutId xmlns:r="http://schemas.openxmlformats.org/officeDocument/2006/relationships" id="2147483650" r:id="R2530e5634f424d25"/>
    <p:sldLayoutId xmlns:r="http://schemas.openxmlformats.org/officeDocument/2006/relationships" id="2147483651" r:id="R51b36c5b98fe4799"/>
    <p:sldLayoutId xmlns:r="http://schemas.openxmlformats.org/officeDocument/2006/relationships" id="2147483652" r:id="Rb29735d892f6433f"/>
    <p:sldLayoutId xmlns:r="http://schemas.openxmlformats.org/officeDocument/2006/relationships" id="2147483653" r:id="R543971d48fa6475b"/>
    <p:sldLayoutId xmlns:r="http://schemas.openxmlformats.org/officeDocument/2006/relationships" id="2147483654" r:id="Rb81b35a97db44c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0ca05bbb8f4026" /><Relationship Type="http://schemas.openxmlformats.org/officeDocument/2006/relationships/notesSlide" Target="/ppt/notesSlides/notesSlide1.xml" Id="R4f2c950ee30e4f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7c932e65f24b92" /><Relationship Type="http://schemas.openxmlformats.org/officeDocument/2006/relationships/notesSlide" Target="/ppt/notesSlides/notesSlide2.xml" Id="R02c9d4a3509744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467f1a96d44736" /><Relationship Type="http://schemas.openxmlformats.org/officeDocument/2006/relationships/notesSlide" Target="/ppt/notesSlides/notesSlide3.xml" Id="R9c9b51195b0c4a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fd86a5aa30429e" /><Relationship Type="http://schemas.openxmlformats.org/officeDocument/2006/relationships/notesSlide" Target="/ppt/notesSlides/notesSlide4.xml" Id="Rfaa0424a754541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8d8825242b4cca" /><Relationship Type="http://schemas.openxmlformats.org/officeDocument/2006/relationships/notesSlide" Target="/ppt/notesSlides/notesSlide5.xml" Id="R4d7abf28158840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4ce915d6384e9f" /><Relationship Type="http://schemas.openxmlformats.org/officeDocument/2006/relationships/notesSlide" Target="/ppt/notesSlides/notesSlide6.xml" Id="R6ce5a8b0549047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57e2a3ded84d60" /><Relationship Type="http://schemas.openxmlformats.org/officeDocument/2006/relationships/notesSlide" Target="/ppt/notesSlides/notesSlide7.xml" Id="R4675c59abbb742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b92b3f48c24d0c" /><Relationship Type="http://schemas.openxmlformats.org/officeDocument/2006/relationships/notesSlide" Target="/ppt/notesSlides/notesSlide8.xml" Id="Rb7f2812825934e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791fc2fae04f4e" /><Relationship Type="http://schemas.openxmlformats.org/officeDocument/2006/relationships/notesSlide" Target="/ppt/notesSlides/notesSlide9.xml" Id="R4e540670b99e45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4BDA9-162D-4213-BD0F-38F6AF5D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3E267-F133-4E92-8418-156C61D9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0"/>
            <a:ext cx="4238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856E1-AB47-4180-A3D5-19D2981F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43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B0BC8-DD22-4F22-BE50-CEB6A3A6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5939B-F40C-4F88-BD6C-DD2CADE7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720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13E75-6D09-42AA-BFDB-BE1316B0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2D3EE"/>
                </a:solidFill>
              </a:defRPr>
            </a:pPr>
            <a:r>
              <a:rPr sz="1275" b="1">
                <a:solidFill>
                  <a:srgbClr val="22D3EE"/>
                </a:solidFill>
              </a:rPr>
              <a:t>SE 544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AB916-7F71-471C-A921-1987FD7F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666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Introduction to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Machine Learning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EAEE6-F647-4FF4-A05B-CCAA479D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590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C8D8EA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C8D8EA"/>
                </a:solidFill>
              </a:defRPr>
            </a:pPr>
            <a:r>
              <a:rPr sz="1575" b="0">
                <a:solidFill>
                  <a:srgbClr val="C8D8EA"/>
                </a:solidFill>
              </a:rPr>
              <a:t>Accuracy, hypotheses, gradient descent,</a:t>
            </a:r>
          </a:p>
          <a:p xmlns:a="http://schemas.openxmlformats.org/drawingml/2006/main">
            <a:pPr>
              <a:defRPr sz="1575" b="0">
                <a:solidFill>
                  <a:srgbClr val="C8D8EA"/>
                </a:solidFill>
              </a:defRPr>
            </a:pPr>
            <a:r>
              <a:rPr sz="1575" b="0">
                <a:solidFill>
                  <a:srgbClr val="C8D8EA"/>
                </a:solidFill>
              </a:rPr>
              <a:t>and model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138CF-9F90-4DE5-90B6-1ABDF256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6A4"/>
          </a:solidFill>
          <a:ln xmlns:a="http://schemas.openxmlformats.org/drawingml/2006/main" w="9525">
            <a:solidFill>
              <a:srgbClr val="6B86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C87F8-1754-4C02-87FE-9B5B7180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Prepared by Fatin Noor Hoque and Nure Jannat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117C3-0827-4873-A676-23150A30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8D8EA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8D8EA"/>
                </a:solidFill>
              </a:defRPr>
            </a:pPr>
            <a:r>
              <a:rPr sz="1050" b="0">
                <a:solidFill>
                  <a:srgbClr val="C8D8EA"/>
                </a:solidFill>
              </a:rPr>
              <a:t>Department of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997414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518FA-4039-4822-BC00-8A3092D1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E67CE-16CC-4DDA-833F-82E735AE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Team members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1567C-6003-4513-A1C0-2574A76A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83"/>
                </a:solidFill>
              </a:defRPr>
            </a:pPr>
            <a:r>
              <a:rPr sz="975" b="0">
                <a:solidFill>
                  <a:srgbClr val="5B7083"/>
                </a:solidFill>
              </a:rPr>
              <a:t>Both presenters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CC621-77EE-4D9B-AF0C-5547CB20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4BF6F-688C-42B0-8699-7CCEE4F1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05375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1EBCF-23A7-4C28-B993-14B082E2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95500"/>
            <a:ext cx="4905375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F0F64-6454-48C5-8CF3-C1E98EEC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CD9D3-F8C9-46F4-B4B6-825E38D2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95500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E8021-6F9D-4D59-BABE-225AA291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Fatin Noor Hoque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5B9F9-B1DB-4BC3-9C45-AC559753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7083"/>
                </a:solidFill>
              </a:defRPr>
            </a:pPr>
            <a:r>
              <a:rPr sz="1350" b="0">
                <a:solidFill>
                  <a:srgbClr val="5B7083"/>
                </a:solidFill>
              </a:rPr>
              <a:t>ID: 241-35-288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58448-9552-4A31-BB44-B3ABA493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Slides 1 to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FDF7B-C947-4A55-9E1E-A5398833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Nure Jannat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ABBAD6-9FAF-4F95-AABC-93ACEACA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956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7083"/>
                </a:solidFill>
              </a:defRPr>
            </a:pPr>
            <a:r>
              <a:rPr sz="1350" b="0">
                <a:solidFill>
                  <a:srgbClr val="5B7083"/>
                </a:solidFill>
              </a:rPr>
              <a:t>ID: 241-35-368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F87C4-AAA4-4C91-AAD5-04962AC4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7C3AED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7C3AED"/>
                </a:solidFill>
              </a:defRPr>
            </a:pPr>
            <a:r>
              <a:rPr sz="1275" b="1">
                <a:solidFill>
                  <a:srgbClr val="7C3AED"/>
                </a:solidFill>
              </a:rPr>
              <a:t>Slides 6 to 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C2123-D23A-47E5-9C83-0D915D00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Presentation flow: model evaluation first, then the ideas that guide learning and generalization.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407AB-4636-4FEC-9A0A-01164EBA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B7083"/>
                </a:solidFill>
              </a:defRPr>
            </a:pPr>
            <a:r>
              <a:rPr sz="750" b="0">
                <a:solidFill>
                  <a:srgbClr val="5B7083"/>
                </a:solidFill>
              </a:rPr>
              <a:t>SE 544  |  Introduction to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8311058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F72662-2149-4051-B8D1-413707F3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AE43F-6628-48D6-A74B-A26B2E30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Machine learning in one sentence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29DDE-BFAB-4259-B617-9044A84F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83"/>
                </a:solidFill>
              </a:defRPr>
            </a:pPr>
            <a:r>
              <a:rPr sz="975" b="0">
                <a:solidFill>
                  <a:srgbClr val="5B7083"/>
                </a:solidFill>
              </a:rPr>
              <a:t>Fatin Noor Hoque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ADC11-44DC-44FE-BAD2-BF161D0B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32BA6-CEED-4113-B048-BF09E8F7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Machine learning lets a computer learn a useful pattern from examples, then use that pattern to make predictions.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DEFD6-BBA1-4027-8071-59F818EE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66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0ACAA-426C-403F-A1C1-CF728787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Examples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B5141-F18A-4F8C-97B7-6DC281E5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33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C3AE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Learn a pattern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5E8D0-71BE-4814-8DC5-183278DA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33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59E0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Make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3F952-3750-434C-B504-3F8E6EDD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</a:defRPr>
            </a:pPr>
            <a:r>
              <a:rPr sz="1200" b="0">
                <a:solidFill>
                  <a:srgbClr val="5B7083"/>
                </a:solidFill>
              </a:rPr>
              <a:t>Training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2ED4C-B10A-4580-88C4-84E9F8A9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148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</a:defRPr>
            </a:pPr>
            <a:r>
              <a:rPr sz="1200" b="0">
                <a:solidFill>
                  <a:srgbClr val="5B7083"/>
                </a:solidFill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02165-28C6-4D78-9147-92631C26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148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</a:defRPr>
            </a:pPr>
            <a:r>
              <a:rPr sz="1200" b="0">
                <a:solidFill>
                  <a:srgbClr val="5B7083"/>
                </a:solidFill>
              </a:rPr>
              <a:t>New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7413E-81DB-4BD5-8A89-4E4B98D7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The key questions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51A68-E221-48FC-9656-FDE34626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F6274-15A5-4434-ABF2-E2221855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67375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How do we measure correct predictions?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227CF8-7AE5-4127-B9BF-41CD9805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673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2555E-4C12-4C85-A5C1-825B3952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667375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How does a model improve and avoid mistakes?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DD8D6-64BB-4A4C-B3B3-AF9A2C28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B7083"/>
                </a:solidFill>
              </a:defRPr>
            </a:pPr>
            <a:r>
              <a:rPr sz="750" b="0">
                <a:solidFill>
                  <a:srgbClr val="5B7083"/>
                </a:solidFill>
              </a:rPr>
              <a:t>SE 544  |  Introduction to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364406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D6D87A-9328-4E7F-982C-72739360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EFAD8-0C50-4E6A-BEC0-CEE61907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Accuracy measurement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5886F-9A17-4A52-A3D3-A5E86ADD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83"/>
                </a:solidFill>
              </a:defRPr>
            </a:pPr>
            <a:r>
              <a:rPr sz="975" b="0">
                <a:solidFill>
                  <a:srgbClr val="5B7083"/>
                </a:solidFill>
              </a:rPr>
              <a:t>Fatin Noor Hoque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9828E-0188-44DC-8619-E38171FE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4A5A2-CD76-4555-9BCC-E68252C6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Accuracy answers a direct question: what fraction of predictions are correct?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9C9FE-2FD9-4D4F-A3B0-FCAE06DE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600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5919C-1A4B-4A3D-A375-82E5C3DE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Accuracy = correct predictions / total predictions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2F060-7498-4A9E-A142-7CA220DE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8D8E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8D8EA"/>
                </a:solidFill>
              </a:defRPr>
            </a:pPr>
            <a:r>
              <a:rPr sz="1275" b="0">
                <a:solidFill>
                  <a:srgbClr val="C8D8EA"/>
                </a:solidFill>
              </a:rPr>
              <a:t>Example: 90 correct predictions out of 100 gives 90% 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F06E7-5130-44E7-AB86-7FED9835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3333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5525F-1CAC-46B8-BED0-53983B64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62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90%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F72F2-7C32-40A7-B909-E6588311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57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B7083"/>
                </a:solidFill>
              </a:defRPr>
            </a:pPr>
            <a:r>
              <a:rPr sz="1500" b="0">
                <a:solidFill>
                  <a:srgbClr val="5B7083"/>
                </a:solidFill>
              </a:rPr>
              <a:t>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CDF45-45A8-4BCB-94F7-D7CB342A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338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B81B6-A15D-41D0-B19F-291F201C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33875"/>
            <a:ext cx="18859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E10E6-5E26-47DD-926D-EBF2CE26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Useful when every class matters equally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59347-7EC3-481F-98AC-712F0589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11DDD-8AF5-40B0-AF70-1E5828E3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57875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Simple to calculate and easy to explain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39C19-F3A5-45AC-B754-F08A80DE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578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CED4C6-084C-401F-9307-38C5DF4F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857875"/>
            <a:ext cx="414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Works well with balanced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C0D592-3FEB-42C3-BB9E-EE089ADB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B7083"/>
                </a:solidFill>
              </a:defRPr>
            </a:pPr>
            <a:r>
              <a:rPr sz="750" b="0">
                <a:solidFill>
                  <a:srgbClr val="5B7083"/>
                </a:solidFill>
              </a:rPr>
              <a:t>SE 544  |  Introduction to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822299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7FCDE-F810-4AEF-8EF2-BE4E38F3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EC71C-32C6-411C-BFC0-82E26681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When accuracy can mislead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6F069-4B42-42EF-8F3C-ADEEAD26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83"/>
                </a:solidFill>
              </a:defRPr>
            </a:pPr>
            <a:r>
              <a:rPr sz="975" b="0">
                <a:solidFill>
                  <a:srgbClr val="5B7083"/>
                </a:solidFill>
              </a:rPr>
              <a:t>Fatin Noor Hoque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121EE-B818-4DEE-9A6E-A7D3B0F4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A159C-7433-4B38-8EE3-8AC7DCA7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A high accuracy score can hide an important failure when one class dominates the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BA1F6-914E-4FB0-9366-BE43FAB7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5000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DC708-7B99-495B-A77F-00A417F1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Dataset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9694A-C7A9-45D5-BC84-3E622607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6712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95 healthy patients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65454-6953-4652-83BE-9C27913D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DC2626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5 patients with disease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41F7D-7DA7-4CBA-8F8F-CCD1C89E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5000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6F75F-3986-4287-802E-068F2C62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90875"/>
            <a:ext cx="3667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Always predict “healthy”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41E69-C22C-4B8B-8A02-C33824DD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67125"/>
            <a:ext cx="2714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95 correct out of 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F049A-D67D-4FAE-9899-D93E0FAA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48125"/>
            <a:ext cx="409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DC2626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DC2626"/>
                </a:solidFill>
              </a:defRPr>
            </a:pPr>
            <a:r>
              <a:rPr sz="1275" b="1">
                <a:solidFill>
                  <a:srgbClr val="DC2626"/>
                </a:solidFill>
              </a:rPr>
              <a:t>Accuracy = 95%, but all sick patients are missed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6D14D-FEC2-494D-B34C-44E585E6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C3AED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C3AED"/>
                </a:solidFill>
              </a:defRPr>
            </a:pPr>
            <a:r>
              <a:rPr sz="1725" b="1">
                <a:solidFill>
                  <a:srgbClr val="7C3AED"/>
                </a:solidFill>
              </a:rPr>
              <a:t>For imbalanced data, also look at precision, recall, and the confusion matrix.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73D6E-4904-42B5-8E52-8323AAE8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B7083"/>
                </a:solidFill>
              </a:defRPr>
            </a:pPr>
            <a:r>
              <a:rPr sz="750" b="0">
                <a:solidFill>
                  <a:srgbClr val="5B7083"/>
                </a:solidFill>
              </a:rPr>
              <a:t>SE 544  |  Introduction to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828792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956FB-C713-425F-A8C8-5350B238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1FD42-12C4-42E3-BE8A-77EF2C95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Hypothesis and gradient descent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511FD-514A-4852-A6C8-DC4D50E3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83"/>
                </a:solidFill>
              </a:defRPr>
            </a:pPr>
            <a:r>
              <a:rPr sz="975" b="0">
                <a:solidFill>
                  <a:srgbClr val="5B7083"/>
                </a:solidFill>
              </a:rPr>
              <a:t>Nure Jannat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0781D-FFD5-4FFB-8F1B-FE768FB3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DBA74-7506-425B-85C3-FE2EA024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A hypothesis is the rule a model uses to map inputs to an output.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CB625-19B4-425A-87A0-75AD415A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4767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F90CF-5A1F-40C2-826E-672683A1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C3AED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C3AED"/>
                </a:solidFill>
              </a:defRPr>
            </a:pPr>
            <a:r>
              <a:rPr sz="1875" b="1">
                <a:solidFill>
                  <a:srgbClr val="7C3AED"/>
                </a:solidFill>
              </a:rPr>
              <a:t>Hypothesis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876DF-4D94-4FFD-80F8-B86E475C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Example: predict exam result</a:t>
            </a:r>
          </a:p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from study hours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EBBB0-50BA-4A07-84BA-67F982BD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44767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0DB71-BCFC-48B2-83CE-073CC632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908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Gradient descent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67FFE-3866-437B-BE5D-250DF3EF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147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A method that adjusts model</a:t>
            </a:r>
          </a:p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parameters to reduce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51DE4-62C9-4974-BA26-E94E0A9E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Training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4092A-2CAF-4694-8056-B1013AAB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1. Predict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337D8-C5F5-4BCA-9EC6-96B8F26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810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7C3AE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2. Measure 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EE7FE-02DB-4AB7-A9C8-B70BD606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810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59E0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3. Update parameters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3619A-6604-4A81-97C2-77DFE647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B7083"/>
                </a:solidFill>
              </a:defRPr>
            </a:pPr>
            <a:r>
              <a:rPr sz="750" b="0">
                <a:solidFill>
                  <a:srgbClr val="5B7083"/>
                </a:solidFill>
              </a:rPr>
              <a:t>SE 544  |  Introduction to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7035625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51447-9E3B-404B-9355-950E11EB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233F6-ACCD-4DEC-BF49-03F1E737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Underfitting, overfitting, bias, and variance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743F1-B1DC-40ED-8D79-C18BD5D2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83"/>
                </a:solidFill>
              </a:defRPr>
            </a:pPr>
            <a:r>
              <a:rPr sz="975" b="0">
                <a:solidFill>
                  <a:srgbClr val="5B7083"/>
                </a:solidFill>
              </a:rPr>
              <a:t>Nure Jannat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8E2D0-B7B7-44BC-8173-276C58F2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97CBE-DA2A-43D6-8E64-B4D38F19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2385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E2FE8-FC45-4FE0-BE43-464726D2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4C91A-F573-4157-BD86-2A222772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2385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8AEC5-4312-4E84-B5D2-0F284722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Underfitting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B8764-1CE4-41A1-8557-91549133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037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Model is too simple</a:t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and misses the pattern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0BEF8-4556-4B39-B4D4-A27D060B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High bias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3BA85-21F0-48D4-8785-22FD32B9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59669"/>
                </a:solidFill>
              </a:defRPr>
            </a:pPr>
            <a:r>
              <a:rPr sz="1725" b="1">
                <a:solidFill>
                  <a:srgbClr val="059669"/>
                </a:solidFill>
              </a:rPr>
              <a:t>Good 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51F5C-A955-4546-9E03-9FF77F0E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0037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Model learns the</a:t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important pattern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2BA5D-414D-4329-B5F5-78FCFDA8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00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59669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59669"/>
                </a:solidFill>
              </a:defRPr>
            </a:pPr>
            <a:r>
              <a:rPr sz="1275" b="1">
                <a:solidFill>
                  <a:srgbClr val="059669"/>
                </a:solidFill>
              </a:rPr>
              <a:t>Balanced bias and variance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E6261-92FD-4239-8043-61487A9E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28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59E0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59E0B"/>
                </a:solidFill>
              </a:defRPr>
            </a:pPr>
            <a:r>
              <a:rPr sz="1725" b="1">
                <a:solidFill>
                  <a:srgbClr val="F59E0B"/>
                </a:solidFill>
              </a:rPr>
              <a:t>Overfitting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AFE14-1530-43E6-B789-2A9260B1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0037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Model memorizes noise</a:t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and fails on new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9CDB4-65EF-489C-9660-82695915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00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59E0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High variance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8DABC-E466-4F67-8CCC-ED29BEFC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Goal: choose a model that performs well on unseen data, not only on training 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FB6E43-F09A-4480-B63A-4D3FD7F4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B7083"/>
                </a:solidFill>
              </a:defRPr>
            </a:pPr>
            <a:r>
              <a:rPr sz="750" b="0">
                <a:solidFill>
                  <a:srgbClr val="5B7083"/>
                </a:solidFill>
              </a:rPr>
              <a:t>SE 544  |  Introduction to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04347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BDC7B-4C49-4DE2-BE19-81125031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6316F-FBCE-48AA-82D2-3A20ECE9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0626D-9578-4E3B-87DC-4F5AC4AF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83"/>
                </a:solidFill>
              </a:defRPr>
            </a:pPr>
            <a:r>
              <a:rPr sz="975" b="0">
                <a:solidFill>
                  <a:srgbClr val="5B7083"/>
                </a:solidFill>
              </a:rPr>
              <a:t>Nure Jannat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BB5D0-B72B-4C86-844E-DFEB8A02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6FBB9-8BE8-49C6-B1EA-BEAADF09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838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Four connected ideas for reliable machine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4A78F-161B-4ADD-8940-8B8101FB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574"/>
          </a:solidFill>
          <a:ln xmlns:a="http://schemas.openxmlformats.org/drawingml/2006/main" w="9525">
            <a:solidFill>
              <a:srgbClr val="3A55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715E4-615F-439E-8EAE-24934F4B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2D3EE"/>
                </a:solidFill>
              </a:defRPr>
            </a:pPr>
            <a:r>
              <a:rPr sz="1575" b="1">
                <a:solidFill>
                  <a:srgbClr val="22D3EE"/>
                </a:solidFill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6315F-A085-4E73-9CC9-CDEBAFB1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766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5E3F1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D5E3F1"/>
                </a:solidFill>
              </a:defRPr>
            </a:pPr>
            <a:r>
              <a:rPr sz="1500" b="0">
                <a:solidFill>
                  <a:srgbClr val="D5E3F1"/>
                </a:solidFill>
              </a:rPr>
              <a:t>checks whether predictions are correct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80CF6-2010-4D19-81F4-B6A72A23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C4B5FD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C4B5FD"/>
                </a:solidFill>
              </a:defRPr>
            </a:pPr>
            <a:r>
              <a:rPr sz="1575" b="1">
                <a:solidFill>
                  <a:srgbClr val="C4B5FD"/>
                </a:solidFill>
              </a:rPr>
              <a:t>Hypothesis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65A4D-8C9B-4FA8-BAA2-E5807379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4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5E3F1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D5E3F1"/>
                </a:solidFill>
              </a:defRPr>
            </a:pPr>
            <a:r>
              <a:rPr sz="1500" b="0">
                <a:solidFill>
                  <a:srgbClr val="D5E3F1"/>
                </a:solidFill>
              </a:rPr>
              <a:t>defines the prediction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F19C1-1EED-40B6-A75C-0DFE6304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93C5FD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93C5FD"/>
                </a:solidFill>
              </a:defRPr>
            </a:pPr>
            <a:r>
              <a:rPr sz="1575" b="1">
                <a:solidFill>
                  <a:srgbClr val="93C5FD"/>
                </a:solidFill>
              </a:rPr>
              <a:t>Gradient descent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C0FE1-5D2D-4724-8B99-CA4521D7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196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5E3F1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D5E3F1"/>
                </a:solidFill>
              </a:defRPr>
            </a:pPr>
            <a:r>
              <a:rPr sz="1500" b="0">
                <a:solidFill>
                  <a:srgbClr val="D5E3F1"/>
                </a:solidFill>
              </a:rPr>
              <a:t>reduces error during training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E77F5-C309-4681-9463-89D02833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CD34D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CD34D"/>
                </a:solidFill>
              </a:defRPr>
            </a:pPr>
            <a:r>
              <a:rPr sz="1575" b="1">
                <a:solidFill>
                  <a:srgbClr val="FCD34D"/>
                </a:solidFill>
              </a:rPr>
              <a:t>Bias and variance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8CF70-C288-4A1E-872A-D830B867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91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5E3F1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D5E3F1"/>
                </a:solidFill>
              </a:defRPr>
            </a:pPr>
            <a:r>
              <a:rPr sz="1500" b="0">
                <a:solidFill>
                  <a:srgbClr val="D5E3F1"/>
                </a:solidFill>
              </a:rPr>
              <a:t>help us recognize underfitting and overfitting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4FEBC-9743-47A6-B1D0-0F757B5F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B7083"/>
                </a:solidFill>
              </a:defRPr>
            </a:pPr>
            <a:r>
              <a:rPr sz="750" b="0">
                <a:solidFill>
                  <a:srgbClr val="5B7083"/>
                </a:solidFill>
              </a:rPr>
              <a:t>SE 544  |  Introduction to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7241822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D2EA9-E092-4504-9659-CA083F52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E1935-AD88-421E-B6F0-706EE8B8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48A87-4A0F-42A4-B23D-66F0419B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02A43"/>
                </a:solidFill>
              </a:defRPr>
            </a:pPr>
            <a:r>
              <a:rPr sz="4200" b="1">
                <a:solidFill>
                  <a:srgbClr val="102A43"/>
                </a:solidFill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4C66F-7BEA-47D9-A543-1DA93C5D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B7083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B7083"/>
                </a:solidFill>
              </a:defRPr>
            </a:pPr>
            <a:r>
              <a:rPr sz="2025" b="0">
                <a:solidFill>
                  <a:srgbClr val="5B7083"/>
                </a:solidFill>
              </a:rPr>
              <a:t>Questions and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1E331-DAE5-42C0-B5EF-7876BE78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4288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E21E3-18FA-4FFC-AFA3-BEA98C9F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Fatin Noor Hoque  |  241-35-288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D569A-588B-4A95-9470-7E07C1E9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053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Nure Jannat  |  241-35-368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5F61D-70F9-4BDE-8EF5-D0FB55F5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335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EDE9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5649E-8E0C-4A06-89BD-B583B886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385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B483E-97AA-4E86-AC85-A4A6C18C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33875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84619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2026-10-11T09:18:07.9490000Z</dcterms:created>
  <dcterms:modified xsi:type="dcterms:W3CDTF">2026-10-11T09:18:07.9490000Z</dcterms:modified>
</coreProperties>
</file>